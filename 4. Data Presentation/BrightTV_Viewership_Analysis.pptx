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6167"/>
                </a:solidFill>
                <a:latin typeface="Calibri"/>
              </a:rPr>
              <a:t>BrightTV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Viewership Analytics &amp;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Growth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Insights for the CVM Team  ·  Subscription Growth 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Analysis period: 2016-01-01 → 2016-04-01  (SA Time)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00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Dataset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E88"/>
                </a:solidFill>
                <a:latin typeface="Calibri"/>
              </a:rPr>
              <a:t>How we cleaned and prepared 10K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603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User &amp; Usage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971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E88"/>
                </a:solidFill>
                <a:latin typeface="Calibri"/>
              </a:rPr>
              <a:t>Who watches BrightTV and when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204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Drivers of Consumption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31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E88"/>
                </a:solidFill>
                <a:latin typeface="Calibri"/>
              </a:rPr>
              <a:t>Factors that influence viewing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8056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Low-Consumption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892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E88"/>
                </a:solidFill>
                <a:latin typeface="Calibri"/>
              </a:rPr>
              <a:t>Content 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9496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4406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Growth Initiatives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E88"/>
                </a:solidFill>
                <a:latin typeface="Calibri"/>
              </a:rPr>
              <a:t>How to expand the user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Two sources, one consolidated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USER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761"/>
                </a:solidFill>
                <a:latin typeface="Georgia"/>
              </a:rPr>
              <a:t>5,375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Subscribers with demographics:</a:t>
            </a:r>
          </a:p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Name, Gender, Race, Age, Province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VIEWERSHIP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E2761"/>
                </a:solidFill>
                <a:latin typeface="Georgia"/>
              </a:rP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Session records:</a:t>
            </a:r>
          </a:p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UserID, Channel, Date/Time,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Preparation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2697480" cy="146304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UTC → 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Converted all timestamps to UTC+2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434840"/>
            <a:ext cx="2697480" cy="146304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Duration →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0292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Parsed HH:MM:SS for arithmetic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434840"/>
            <a:ext cx="2697480" cy="146304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Joined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Profile match rate: 100%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434840"/>
            <a:ext cx="2697480" cy="146304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Derived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0292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Hour, Day of week, Age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BrightTV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Three months of viewing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Georgia"/>
              </a:rP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Total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Georgia"/>
              </a:rPr>
              <a:t>4,080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Unique viewers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Georgia"/>
              </a:rPr>
              <a:t>1,498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Hours watched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Georgia"/>
              </a:rPr>
              <a:t>9.4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92608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Avg session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Key 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• Active engaged base: 4,080 viewers across 10,000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• Profile coverage is complete — every session can be tied to a subscriber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• Average session ~9.4 minutes — short-form viewing dominates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01436"/>
                </a:solidFill>
                <a:latin typeface="Calibri"/>
              </a:rPr>
              <a:t>• Profile base of 5,375 vs 4,080 active = ~76% activation rate (clear win-back opportunity)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When People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Sessions by hour of day (SA 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pic>
        <p:nvPicPr>
          <p:cNvPr id="7" name="Picture 6" descr="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840480" cy="4572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Prime time peaks at 17:00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Evening 17:00–22:00 is the consumption sweet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Morning (06:00–09:00) is a secondary commute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Schedule premium content &amp; promos to align with these 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Weekly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Sessions by day of week — lowest day in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pic>
        <p:nvPicPr>
          <p:cNvPr id="7" name="Picture 6" descr="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840480" cy="4572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Monday is the weak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Monday: 957 sessions (weakest)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Friday: 1,675 sessions (strongest)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~75% gap between best and worst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00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Clear opportunity to lift Monday with targeted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What People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Top 10 channels by total hours streamed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pic>
        <p:nvPicPr>
          <p:cNvPr id="7" name="Picture 6" descr="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840480" cy="4572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Sport leads — "ICC Cricket World Cup 2011"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Live sports drive longest watch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Music and entertainment channels follow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Long-tail of niche channels — opportunity to consolidate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Who Watches —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Sessions by age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pic>
        <p:nvPicPr>
          <p:cNvPr id="7" name="Picture 6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840480" cy="4572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Core audience: 25-34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Millennials (25-44) dominate 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Strong sub-base in 45-54 — premium ad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Under-25 segment is under-indexed → growth lever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Who Watches —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Sessions by South African province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pic>
        <p:nvPicPr>
          <p:cNvPr id="7" name="Picture 6" descr="provi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840480" cy="4572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Gauteng leads the country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Urban provinces (Gauteng, Western Cape, KZN) drive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Rural provinces remain under-penetrated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•  Geo-targeted campaigns can rebalance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Audience Mix &amp;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Gender split and monthly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pic>
        <p:nvPicPr>
          <p:cNvPr id="7" name="Picture 6" descr="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303520" cy="4572000"/>
          </a:xfrm>
          <a:prstGeom prst="rect">
            <a:avLst/>
          </a:prstGeom>
        </p:spPr>
      </p:pic>
      <p:pic>
        <p:nvPicPr>
          <p:cNvPr id="8" name="Picture 7" descr="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448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What Influences Consumption?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Five factors observed in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TIME OF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9164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436"/>
                </a:solidFill>
                <a:latin typeface="Calibri"/>
              </a:rPr>
              <a:t>Evening 17:00–22:00 captures the bulk of sessions; mornings spike again at commute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DAY OF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517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436"/>
                </a:solidFill>
                <a:latin typeface="Calibri"/>
              </a:rPr>
              <a:t>Friday peaks (1,675); Monday drops to 957. Weekends outperform mid-week.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CONTENT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436"/>
                </a:solidFill>
                <a:latin typeface="Calibri"/>
              </a:rPr>
              <a:t>Live sport (Cricket, Supersport) and music (Trace, Channel O) drive longest sessions.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AGE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720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436"/>
                </a:solidFill>
                <a:latin typeface="Calibri"/>
              </a:rPr>
              <a:t>25–34 dominate; &lt;25 and 65+ are light users — under-served opportunity.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53212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436"/>
                </a:solidFill>
                <a:latin typeface="Calibri"/>
              </a:rPr>
              <a:t>Gauteng, Western Cape, KZN over-index; rural provinces lag — likely connectivity &amp; device gaps.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Lifting Mondays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Content recommendations for the lowest-consumption day (957 sessions)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45720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WHAT ALREADY WORKS ON MONDAY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Georgia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436"/>
                </a:solidFill>
                <a:latin typeface="Calibri"/>
              </a:rPr>
              <a:t>Channel 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Georgia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436"/>
                </a:solidFill>
                <a:latin typeface="Calibri"/>
              </a:rPr>
              <a:t>Trace 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Georgia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436"/>
                </a:solidFill>
                <a:latin typeface="Calibri"/>
              </a:rPr>
              <a:t>Supersport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Georgia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436"/>
                </a:solidFill>
                <a:latin typeface="Calibri"/>
              </a:rPr>
              <a:t>Cartoon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Georgia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436"/>
                </a:solidFill>
                <a:latin typeface="Calibri"/>
              </a:rPr>
              <a:t>Africa Magic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E88"/>
                </a:solidFill>
                <a:latin typeface="Calibri"/>
              </a:rPr>
              <a:t>Music &amp; entertainment dominate Mondays — viewers want low-effort, mood-lifting content after the weekend.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55448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RECOMMENDED CONTENT PLAYS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94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▸ "Music Monday"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Curated Channel O / Trace blocks 17–22h with live DJ 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71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▸ Sport mid-week kick-off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Monday Night highlights + behind-the-scenes from weekend 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749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▸ Binge premiere 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69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Drop new series episodes on Monday to anchor the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262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▸ Family early-evening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463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Cartoon Network + Africa Magic combo for 17–19h family slot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303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▸ Push notification 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6235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Send "what to watch tonight" push at 17:00 SA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Growing the BrightTV User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E88"/>
                </a:solidFill>
                <a:latin typeface="Calibri"/>
              </a:rPr>
              <a:t>Five initiatives for the CVM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E88"/>
                </a:solidFill>
                <a:latin typeface="Calibri"/>
              </a:rPr>
              <a:t>BrightTV  ·  Viewership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645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Reactivate dormant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1436"/>
                </a:solidFill>
                <a:latin typeface="Calibri"/>
              </a:rPr>
              <a:t>~24% of profiles were inactive in the period. Win-back email + 7-day free premium 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6002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45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Youth acquisition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(Under-25)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1436"/>
                </a:solidFill>
                <a:latin typeface="Calibri"/>
              </a:rPr>
              <a:t>Under-indexed segment. Partner with local artists, TikTok creators; bundle with student data deals.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46304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16002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00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645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Provincial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4688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1436"/>
                </a:solidFill>
                <a:latin typeface="Calibri"/>
              </a:rPr>
              <a:t>Lite/data-saver plan for Limpopo, NC, NW, EC; bundle with mobile network airtime.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1148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1605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Content-led referrals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7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1436"/>
                </a:solidFill>
                <a:latin typeface="Calibri"/>
              </a:rPr>
              <a:t>Refer-a-friend tied to live sport events (Cricket, Supersport) — highest engagement triggers.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977639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41148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1605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Smart scheduling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983479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1436"/>
                </a:solidFill>
                <a:latin typeface="Calibri"/>
              </a:rPr>
              <a:t>Time premieres for 17–22h SA. Strengthen Monday-Tuesday with original content drops.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977639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NORTH-STAR METRIC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5720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Active subscribers per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5778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Track activation rate alongside acquisition.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alibri"/>
              </a:rPr>
              <a:t>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Three pillars to grow BrightTV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3383280" cy="2194560"/>
          </a:xfrm>
          <a:prstGeom prst="roundRect">
            <a:avLst>
              <a:gd name="adj" fmla="val 12000"/>
            </a:avLst>
          </a:prstGeom>
          <a:solidFill>
            <a:srgbClr val="10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REACTIVATE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Win back ~25% inactive profiles with trials &amp; personalized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57600"/>
            <a:ext cx="3383280" cy="2194560"/>
          </a:xfrm>
          <a:prstGeom prst="roundRect">
            <a:avLst>
              <a:gd name="adj" fmla="val 12000"/>
            </a:avLst>
          </a:prstGeom>
          <a:solidFill>
            <a:srgbClr val="10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LIFT THE LULLS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3434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Anchor Mondays with music, family &amp; binge-premiere blocks at 17–22h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657600"/>
            <a:ext cx="3383280" cy="2194560"/>
          </a:xfrm>
          <a:prstGeom prst="roundRect">
            <a:avLst>
              <a:gd name="adj" fmla="val 12000"/>
            </a:avLst>
          </a:prstGeom>
          <a:solidFill>
            <a:srgbClr val="101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434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Reach Under-25s and rural provinces with data-light plans &amp; creator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